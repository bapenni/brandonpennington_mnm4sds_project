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65" r:id="rId3"/>
    <p:sldId id="258" r:id="rId4"/>
    <p:sldId id="279" r:id="rId5"/>
    <p:sldId id="270" r:id="rId6"/>
    <p:sldId id="272" r:id="rId7"/>
    <p:sldId id="274" r:id="rId8"/>
    <p:sldId id="271" r:id="rId9"/>
    <p:sldId id="277" r:id="rId10"/>
    <p:sldId id="276" r:id="rId11"/>
    <p:sldId id="278" r:id="rId12"/>
    <p:sldId id="261" r:id="rId13"/>
    <p:sldId id="26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8" d="100"/>
          <a:sy n="98" d="100"/>
        </p:scale>
        <p:origin x="115" y="34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430C0A-5464-4FE4-84EB-FF9C94016DF4}" type="datetimeFigureOut">
              <a:rPr lang="en-US" dirty="0"/>
              <a:t>12/10/2020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12/10/2020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0C6404-AD6E-4860-8E75-697CA40B95DA}" type="datetimeFigureOut">
              <a:rPr lang="en-US" dirty="0"/>
              <a:t>12/10/2020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12/10/2020</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12/10/2020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12/10/2020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12/10/2020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12/10/2020</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12/10/2020</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12/10/2020</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fbi.gov/services/cjis/ucr/nibr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8D508C-A317-451C-AB61-8A699E357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406"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5EDBD-C074-454D-BA70-29B39EE803AC}"/>
              </a:ext>
            </a:extLst>
          </p:cNvPr>
          <p:cNvSpPr>
            <a:spLocks noGrp="1"/>
          </p:cNvSpPr>
          <p:nvPr>
            <p:ph type="ctrTitle"/>
          </p:nvPr>
        </p:nvSpPr>
        <p:spPr>
          <a:xfrm>
            <a:off x="1600200" y="2567226"/>
            <a:ext cx="8991600" cy="1723549"/>
          </a:xfrm>
        </p:spPr>
        <p:txBody>
          <a:bodyPr>
            <a:normAutofit/>
          </a:bodyPr>
          <a:lstStyle/>
          <a:p>
            <a:r>
              <a:rPr lang="en-US" sz="4000" dirty="0"/>
              <a:t>DC Crime analysis</a:t>
            </a:r>
          </a:p>
        </p:txBody>
      </p:sp>
      <p:sp>
        <p:nvSpPr>
          <p:cNvPr id="3" name="Subtitle 2">
            <a:extLst>
              <a:ext uri="{FF2B5EF4-FFF2-40B4-BE49-F238E27FC236}">
                <a16:creationId xmlns:a16="http://schemas.microsoft.com/office/drawing/2014/main" id="{2F27262A-2342-49E4-A76E-217BB56197AD}"/>
              </a:ext>
            </a:extLst>
          </p:cNvPr>
          <p:cNvSpPr>
            <a:spLocks noGrp="1"/>
          </p:cNvSpPr>
          <p:nvPr>
            <p:ph type="subTitle" idx="1"/>
          </p:nvPr>
        </p:nvSpPr>
        <p:spPr>
          <a:xfrm>
            <a:off x="6579219" y="5583044"/>
            <a:ext cx="3995955" cy="653164"/>
          </a:xfrm>
        </p:spPr>
        <p:txBody>
          <a:bodyPr>
            <a:normAutofit/>
          </a:bodyPr>
          <a:lstStyle/>
          <a:p>
            <a:pPr algn="r">
              <a:lnSpc>
                <a:spcPct val="90000"/>
              </a:lnSpc>
            </a:pPr>
            <a:r>
              <a:rPr lang="en-US" sz="1400">
                <a:solidFill>
                  <a:srgbClr val="FFFFFF"/>
                </a:solidFill>
              </a:rPr>
              <a:t>Brandon Pennington</a:t>
            </a:r>
          </a:p>
          <a:p>
            <a:pPr algn="r">
              <a:lnSpc>
                <a:spcPct val="90000"/>
              </a:lnSpc>
            </a:pPr>
            <a:r>
              <a:rPr lang="en-US" sz="1400">
                <a:solidFill>
                  <a:srgbClr val="FFFFFF"/>
                </a:solidFill>
              </a:rPr>
              <a:t>GEOG498G - Fall 2020</a:t>
            </a:r>
          </a:p>
        </p:txBody>
      </p:sp>
    </p:spTree>
    <p:extLst>
      <p:ext uri="{BB962C8B-B14F-4D97-AF65-F5344CB8AC3E}">
        <p14:creationId xmlns:p14="http://schemas.microsoft.com/office/powerpoint/2010/main" val="1907633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E0512-2C19-4158-98A7-0C4B5BA272F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dirty="0">
                <a:solidFill>
                  <a:srgbClr val="FFFFFF"/>
                </a:solidFill>
              </a:rPr>
              <a:t>Overall updates</a:t>
            </a:r>
          </a:p>
        </p:txBody>
      </p:sp>
      <p:sp>
        <p:nvSpPr>
          <p:cNvPr id="3" name="Content Placeholder 2">
            <a:extLst>
              <a:ext uri="{FF2B5EF4-FFF2-40B4-BE49-F238E27FC236}">
                <a16:creationId xmlns:a16="http://schemas.microsoft.com/office/drawing/2014/main" id="{4EB20745-FA5A-49FD-97F1-CD0846655426}"/>
              </a:ext>
            </a:extLst>
          </p:cNvPr>
          <p:cNvSpPr>
            <a:spLocks noGrp="1"/>
          </p:cNvSpPr>
          <p:nvPr>
            <p:ph idx="1"/>
          </p:nvPr>
        </p:nvSpPr>
        <p:spPr>
          <a:xfrm>
            <a:off x="5591695" y="1402080"/>
            <a:ext cx="5320696" cy="4053840"/>
          </a:xfrm>
        </p:spPr>
        <p:txBody>
          <a:bodyPr anchor="ctr">
            <a:normAutofit/>
          </a:bodyPr>
          <a:lstStyle/>
          <a:p>
            <a:r>
              <a:rPr lang="en-US" dirty="0"/>
              <a:t>Performed exploratory geospatial analysis of the DC area on the distribution of crime for 2 years (2017-2018). Mainly, added transportation figures</a:t>
            </a:r>
          </a:p>
          <a:p>
            <a:r>
              <a:rPr lang="en-US" dirty="0"/>
              <a:t>Was able to perform the multi-variable OLS regression analysis, GWR/MGWR, Moran’s I, and Local Moran’s I (may still need some final tweaking though)</a:t>
            </a:r>
          </a:p>
          <a:p>
            <a:r>
              <a:rPr lang="en-US" dirty="0"/>
              <a:t>Interactive visualizations with Folium may be scrapped for time being. More prudent to concentrate on the final report and having good figures, maps, and reports</a:t>
            </a:r>
          </a:p>
        </p:txBody>
      </p:sp>
    </p:spTree>
    <p:extLst>
      <p:ext uri="{BB962C8B-B14F-4D97-AF65-F5344CB8AC3E}">
        <p14:creationId xmlns:p14="http://schemas.microsoft.com/office/powerpoint/2010/main" val="174085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FB5147-CDFA-46AD-8BC4-84219B175F08}"/>
              </a:ext>
            </a:extLst>
          </p:cNvPr>
          <p:cNvSpPr>
            <a:spLocks noGrp="1"/>
          </p:cNvSpPr>
          <p:nvPr>
            <p:ph type="title"/>
          </p:nvPr>
        </p:nvSpPr>
        <p:spPr>
          <a:xfrm>
            <a:off x="637889" y="2893470"/>
            <a:ext cx="2787467" cy="1071062"/>
          </a:xfrm>
        </p:spPr>
        <p:txBody>
          <a:bodyPr vert="horz" lIns="182880" tIns="182880" rIns="182880" bIns="182880" rtlCol="0" anchor="ctr" anchorCtr="1">
            <a:normAutofit/>
          </a:bodyPr>
          <a:lstStyle/>
          <a:p>
            <a:r>
              <a:rPr lang="en-US" sz="1700" dirty="0"/>
              <a:t>Crimes by census tract + transportation</a:t>
            </a:r>
          </a:p>
        </p:txBody>
      </p:sp>
      <p:pic>
        <p:nvPicPr>
          <p:cNvPr id="7" name="Picture 6">
            <a:extLst>
              <a:ext uri="{FF2B5EF4-FFF2-40B4-BE49-F238E27FC236}">
                <a16:creationId xmlns:a16="http://schemas.microsoft.com/office/drawing/2014/main" id="{821AEA82-C313-461E-889C-A66A66EF7127}"/>
              </a:ext>
            </a:extLst>
          </p:cNvPr>
          <p:cNvPicPr>
            <a:picLocks noChangeAspect="1"/>
          </p:cNvPicPr>
          <p:nvPr/>
        </p:nvPicPr>
        <p:blipFill>
          <a:blip r:embed="rId2"/>
          <a:stretch>
            <a:fillRect/>
          </a:stretch>
        </p:blipFill>
        <p:spPr>
          <a:xfrm>
            <a:off x="0" y="276759"/>
            <a:ext cx="12192000" cy="6304482"/>
          </a:xfrm>
          <a:prstGeom prst="rect">
            <a:avLst/>
          </a:prstGeom>
        </p:spPr>
      </p:pic>
      <p:sp>
        <p:nvSpPr>
          <p:cNvPr id="2" name="TextBox 1">
            <a:extLst>
              <a:ext uri="{FF2B5EF4-FFF2-40B4-BE49-F238E27FC236}">
                <a16:creationId xmlns:a16="http://schemas.microsoft.com/office/drawing/2014/main" id="{A5C71E5F-FC8C-4B79-978E-67F85CE89454}"/>
              </a:ext>
            </a:extLst>
          </p:cNvPr>
          <p:cNvSpPr txBox="1"/>
          <p:nvPr/>
        </p:nvSpPr>
        <p:spPr>
          <a:xfrm>
            <a:off x="4581322" y="276759"/>
            <a:ext cx="3029355" cy="369332"/>
          </a:xfrm>
          <a:prstGeom prst="rect">
            <a:avLst/>
          </a:prstGeom>
          <a:noFill/>
        </p:spPr>
        <p:txBody>
          <a:bodyPr wrap="none" rtlCol="0">
            <a:spAutoFit/>
          </a:bodyPr>
          <a:lstStyle/>
          <a:p>
            <a:r>
              <a:rPr lang="en-US" dirty="0"/>
              <a:t>Crime Density by census tract</a:t>
            </a:r>
          </a:p>
        </p:txBody>
      </p:sp>
      <p:sp>
        <p:nvSpPr>
          <p:cNvPr id="3" name="TextBox 2">
            <a:extLst>
              <a:ext uri="{FF2B5EF4-FFF2-40B4-BE49-F238E27FC236}">
                <a16:creationId xmlns:a16="http://schemas.microsoft.com/office/drawing/2014/main" id="{CA7ADD22-83D5-4F81-867D-4DD6CCF71AEC}"/>
              </a:ext>
            </a:extLst>
          </p:cNvPr>
          <p:cNvSpPr txBox="1"/>
          <p:nvPr/>
        </p:nvSpPr>
        <p:spPr>
          <a:xfrm>
            <a:off x="2031622" y="477056"/>
            <a:ext cx="646331" cy="369332"/>
          </a:xfrm>
          <a:prstGeom prst="rect">
            <a:avLst/>
          </a:prstGeom>
          <a:noFill/>
        </p:spPr>
        <p:txBody>
          <a:bodyPr wrap="none" rtlCol="0">
            <a:spAutoFit/>
          </a:bodyPr>
          <a:lstStyle/>
          <a:p>
            <a:pPr algn="ctr"/>
            <a:r>
              <a:rPr lang="en-US" dirty="0"/>
              <a:t>2017</a:t>
            </a:r>
          </a:p>
        </p:txBody>
      </p:sp>
      <p:sp>
        <p:nvSpPr>
          <p:cNvPr id="4" name="TextBox 3">
            <a:extLst>
              <a:ext uri="{FF2B5EF4-FFF2-40B4-BE49-F238E27FC236}">
                <a16:creationId xmlns:a16="http://schemas.microsoft.com/office/drawing/2014/main" id="{CE632AC4-A4EA-405C-AFF1-F5567EBADE1A}"/>
              </a:ext>
            </a:extLst>
          </p:cNvPr>
          <p:cNvSpPr txBox="1"/>
          <p:nvPr/>
        </p:nvSpPr>
        <p:spPr>
          <a:xfrm>
            <a:off x="8659446" y="477056"/>
            <a:ext cx="1127760" cy="369332"/>
          </a:xfrm>
          <a:prstGeom prst="rect">
            <a:avLst/>
          </a:prstGeom>
          <a:noFill/>
        </p:spPr>
        <p:txBody>
          <a:bodyPr wrap="square" rtlCol="0">
            <a:spAutoFit/>
          </a:bodyPr>
          <a:lstStyle/>
          <a:p>
            <a:pPr algn="ctr"/>
            <a:r>
              <a:rPr lang="en-US" dirty="0"/>
              <a:t>2018</a:t>
            </a:r>
          </a:p>
        </p:txBody>
      </p:sp>
    </p:spTree>
    <p:extLst>
      <p:ext uri="{BB962C8B-B14F-4D97-AF65-F5344CB8AC3E}">
        <p14:creationId xmlns:p14="http://schemas.microsoft.com/office/powerpoint/2010/main" val="2842569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FB5147-CDFA-46AD-8BC4-84219B175F08}"/>
              </a:ext>
            </a:extLst>
          </p:cNvPr>
          <p:cNvSpPr>
            <a:spLocks noGrp="1"/>
          </p:cNvSpPr>
          <p:nvPr>
            <p:ph type="title"/>
          </p:nvPr>
        </p:nvSpPr>
        <p:spPr>
          <a:xfrm>
            <a:off x="637889" y="2893470"/>
            <a:ext cx="2787467" cy="1071062"/>
          </a:xfrm>
        </p:spPr>
        <p:txBody>
          <a:bodyPr vert="horz" lIns="182880" tIns="182880" rIns="182880" bIns="182880" rtlCol="0" anchor="ctr" anchorCtr="1">
            <a:normAutofit/>
          </a:bodyPr>
          <a:lstStyle/>
          <a:p>
            <a:r>
              <a:rPr lang="en-US" sz="1700" dirty="0"/>
              <a:t>Crimes by census tract + transportation</a:t>
            </a:r>
          </a:p>
        </p:txBody>
      </p:sp>
      <p:pic>
        <p:nvPicPr>
          <p:cNvPr id="14" name="Picture 13">
            <a:extLst>
              <a:ext uri="{FF2B5EF4-FFF2-40B4-BE49-F238E27FC236}">
                <a16:creationId xmlns:a16="http://schemas.microsoft.com/office/drawing/2014/main" id="{2D7D73B6-0040-4AB9-94A3-7DE4A03CEFBB}"/>
              </a:ext>
            </a:extLst>
          </p:cNvPr>
          <p:cNvPicPr>
            <a:picLocks noChangeAspect="1"/>
          </p:cNvPicPr>
          <p:nvPr/>
        </p:nvPicPr>
        <p:blipFill>
          <a:blip r:embed="rId2"/>
          <a:stretch>
            <a:fillRect/>
          </a:stretch>
        </p:blipFill>
        <p:spPr>
          <a:xfrm>
            <a:off x="0" y="453032"/>
            <a:ext cx="12192000" cy="5951935"/>
          </a:xfrm>
          <a:prstGeom prst="rect">
            <a:avLst/>
          </a:prstGeom>
        </p:spPr>
      </p:pic>
      <p:sp>
        <p:nvSpPr>
          <p:cNvPr id="2" name="TextBox 1">
            <a:extLst>
              <a:ext uri="{FF2B5EF4-FFF2-40B4-BE49-F238E27FC236}">
                <a16:creationId xmlns:a16="http://schemas.microsoft.com/office/drawing/2014/main" id="{A5C71E5F-FC8C-4B79-978E-67F85CE89454}"/>
              </a:ext>
            </a:extLst>
          </p:cNvPr>
          <p:cNvSpPr txBox="1"/>
          <p:nvPr/>
        </p:nvSpPr>
        <p:spPr>
          <a:xfrm>
            <a:off x="4883168" y="120975"/>
            <a:ext cx="2425664" cy="369332"/>
          </a:xfrm>
          <a:prstGeom prst="rect">
            <a:avLst/>
          </a:prstGeom>
          <a:noFill/>
        </p:spPr>
        <p:txBody>
          <a:bodyPr wrap="none" rtlCol="0">
            <a:spAutoFit/>
          </a:bodyPr>
          <a:lstStyle/>
          <a:p>
            <a:r>
              <a:rPr lang="en-US" dirty="0"/>
              <a:t>Bus stop to crime ratio </a:t>
            </a:r>
          </a:p>
        </p:txBody>
      </p:sp>
      <p:sp>
        <p:nvSpPr>
          <p:cNvPr id="3" name="TextBox 2">
            <a:extLst>
              <a:ext uri="{FF2B5EF4-FFF2-40B4-BE49-F238E27FC236}">
                <a16:creationId xmlns:a16="http://schemas.microsoft.com/office/drawing/2014/main" id="{CA7ADD22-83D5-4F81-867D-4DD6CCF71AEC}"/>
              </a:ext>
            </a:extLst>
          </p:cNvPr>
          <p:cNvSpPr txBox="1"/>
          <p:nvPr/>
        </p:nvSpPr>
        <p:spPr>
          <a:xfrm>
            <a:off x="2031622" y="477056"/>
            <a:ext cx="646331" cy="369332"/>
          </a:xfrm>
          <a:prstGeom prst="rect">
            <a:avLst/>
          </a:prstGeom>
          <a:noFill/>
        </p:spPr>
        <p:txBody>
          <a:bodyPr wrap="none" rtlCol="0">
            <a:spAutoFit/>
          </a:bodyPr>
          <a:lstStyle/>
          <a:p>
            <a:pPr algn="ctr"/>
            <a:r>
              <a:rPr lang="en-US" dirty="0"/>
              <a:t>2017</a:t>
            </a:r>
          </a:p>
        </p:txBody>
      </p:sp>
      <p:sp>
        <p:nvSpPr>
          <p:cNvPr id="4" name="TextBox 3">
            <a:extLst>
              <a:ext uri="{FF2B5EF4-FFF2-40B4-BE49-F238E27FC236}">
                <a16:creationId xmlns:a16="http://schemas.microsoft.com/office/drawing/2014/main" id="{CE632AC4-A4EA-405C-AFF1-F5567EBADE1A}"/>
              </a:ext>
            </a:extLst>
          </p:cNvPr>
          <p:cNvSpPr txBox="1"/>
          <p:nvPr/>
        </p:nvSpPr>
        <p:spPr>
          <a:xfrm>
            <a:off x="8659446" y="477056"/>
            <a:ext cx="1127760" cy="369332"/>
          </a:xfrm>
          <a:prstGeom prst="rect">
            <a:avLst/>
          </a:prstGeom>
          <a:noFill/>
        </p:spPr>
        <p:txBody>
          <a:bodyPr wrap="square" rtlCol="0">
            <a:spAutoFit/>
          </a:bodyPr>
          <a:lstStyle/>
          <a:p>
            <a:pPr algn="ctr"/>
            <a:r>
              <a:rPr lang="en-US" dirty="0"/>
              <a:t>2018</a:t>
            </a:r>
          </a:p>
        </p:txBody>
      </p:sp>
    </p:spTree>
    <p:extLst>
      <p:ext uri="{BB962C8B-B14F-4D97-AF65-F5344CB8AC3E}">
        <p14:creationId xmlns:p14="http://schemas.microsoft.com/office/powerpoint/2010/main" val="3752655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E0512-2C19-4158-98A7-0C4B5BA272F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dirty="0">
                <a:solidFill>
                  <a:srgbClr val="FFFFFF"/>
                </a:solidFill>
              </a:rPr>
              <a:t>Local hot/cold spots</a:t>
            </a:r>
          </a:p>
        </p:txBody>
      </p:sp>
      <p:sp>
        <p:nvSpPr>
          <p:cNvPr id="3" name="Content Placeholder 2">
            <a:extLst>
              <a:ext uri="{FF2B5EF4-FFF2-40B4-BE49-F238E27FC236}">
                <a16:creationId xmlns:a16="http://schemas.microsoft.com/office/drawing/2014/main" id="{4EB20745-FA5A-49FD-97F1-CD0846655426}"/>
              </a:ext>
            </a:extLst>
          </p:cNvPr>
          <p:cNvSpPr>
            <a:spLocks noGrp="1"/>
          </p:cNvSpPr>
          <p:nvPr>
            <p:ph idx="1"/>
          </p:nvPr>
        </p:nvSpPr>
        <p:spPr>
          <a:xfrm>
            <a:off x="5591695" y="1402080"/>
            <a:ext cx="5320696" cy="4053840"/>
          </a:xfrm>
        </p:spPr>
        <p:txBody>
          <a:bodyPr anchor="ctr">
            <a:normAutofit/>
          </a:bodyPr>
          <a:lstStyle/>
          <a:p>
            <a:r>
              <a:rPr lang="en-US" dirty="0"/>
              <a:t>The results for 2017 seemed to be a bit more dispersed/sporadic overall.</a:t>
            </a:r>
          </a:p>
          <a:p>
            <a:r>
              <a:rPr lang="en-US" dirty="0"/>
              <a:t>The hot and cold spot analysis seemed to make a bit more sense in 2018 with larger concentration of hotspots centered around where the National Mall and the touristy museums are dispersed (even though the actual crime choropleth maps looked pretty similar for both years)</a:t>
            </a:r>
          </a:p>
        </p:txBody>
      </p:sp>
    </p:spTree>
    <p:extLst>
      <p:ext uri="{BB962C8B-B14F-4D97-AF65-F5344CB8AC3E}">
        <p14:creationId xmlns:p14="http://schemas.microsoft.com/office/powerpoint/2010/main" val="3894440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FB5147-CDFA-46AD-8BC4-84219B175F08}"/>
              </a:ext>
            </a:extLst>
          </p:cNvPr>
          <p:cNvSpPr>
            <a:spLocks noGrp="1"/>
          </p:cNvSpPr>
          <p:nvPr>
            <p:ph type="title"/>
          </p:nvPr>
        </p:nvSpPr>
        <p:spPr>
          <a:xfrm>
            <a:off x="1595959" y="2497991"/>
            <a:ext cx="2933742" cy="1071062"/>
          </a:xfrm>
        </p:spPr>
        <p:txBody>
          <a:bodyPr vert="horz" lIns="182880" tIns="182880" rIns="182880" bIns="182880" rtlCol="0" anchor="ctr" anchorCtr="1">
            <a:normAutofit/>
          </a:bodyPr>
          <a:lstStyle/>
          <a:p>
            <a:r>
              <a:rPr lang="en-US" sz="1700" dirty="0"/>
              <a:t>Autocorrelation Plots</a:t>
            </a:r>
          </a:p>
        </p:txBody>
      </p:sp>
      <p:sp>
        <p:nvSpPr>
          <p:cNvPr id="3" name="Content Placeholder 2">
            <a:extLst>
              <a:ext uri="{FF2B5EF4-FFF2-40B4-BE49-F238E27FC236}">
                <a16:creationId xmlns:a16="http://schemas.microsoft.com/office/drawing/2014/main" id="{6B128403-50E0-4221-B286-2BC7D442B507}"/>
              </a:ext>
            </a:extLst>
          </p:cNvPr>
          <p:cNvSpPr>
            <a:spLocks noGrp="1"/>
          </p:cNvSpPr>
          <p:nvPr>
            <p:ph idx="1"/>
          </p:nvPr>
        </p:nvSpPr>
        <p:spPr/>
        <p:txBody>
          <a:bodyPr/>
          <a:lstStyle/>
          <a:p>
            <a:endParaRPr lang="en-US" dirty="0"/>
          </a:p>
        </p:txBody>
      </p:sp>
      <p:pic>
        <p:nvPicPr>
          <p:cNvPr id="9" name="Picture 8">
            <a:extLst>
              <a:ext uri="{FF2B5EF4-FFF2-40B4-BE49-F238E27FC236}">
                <a16:creationId xmlns:a16="http://schemas.microsoft.com/office/drawing/2014/main" id="{213D5F8A-1786-48AC-9CFE-0C01DBC8A7D0}"/>
              </a:ext>
            </a:extLst>
          </p:cNvPr>
          <p:cNvPicPr>
            <a:picLocks noChangeAspect="1"/>
          </p:cNvPicPr>
          <p:nvPr/>
        </p:nvPicPr>
        <p:blipFill>
          <a:blip r:embed="rId2"/>
          <a:stretch>
            <a:fillRect/>
          </a:stretch>
        </p:blipFill>
        <p:spPr>
          <a:xfrm>
            <a:off x="0" y="-51711"/>
            <a:ext cx="12192000" cy="3480711"/>
          </a:xfrm>
          <a:prstGeom prst="rect">
            <a:avLst/>
          </a:prstGeom>
        </p:spPr>
      </p:pic>
      <p:pic>
        <p:nvPicPr>
          <p:cNvPr id="11" name="Picture 10">
            <a:extLst>
              <a:ext uri="{FF2B5EF4-FFF2-40B4-BE49-F238E27FC236}">
                <a16:creationId xmlns:a16="http://schemas.microsoft.com/office/drawing/2014/main" id="{10C2868C-7D3E-482A-A611-5E8979EE4047}"/>
              </a:ext>
            </a:extLst>
          </p:cNvPr>
          <p:cNvPicPr>
            <a:picLocks noChangeAspect="1"/>
          </p:cNvPicPr>
          <p:nvPr/>
        </p:nvPicPr>
        <p:blipFill>
          <a:blip r:embed="rId3"/>
          <a:stretch>
            <a:fillRect/>
          </a:stretch>
        </p:blipFill>
        <p:spPr>
          <a:xfrm>
            <a:off x="0" y="3429000"/>
            <a:ext cx="12192000" cy="3445358"/>
          </a:xfrm>
          <a:prstGeom prst="rect">
            <a:avLst/>
          </a:prstGeom>
        </p:spPr>
      </p:pic>
    </p:spTree>
    <p:extLst>
      <p:ext uri="{BB962C8B-B14F-4D97-AF65-F5344CB8AC3E}">
        <p14:creationId xmlns:p14="http://schemas.microsoft.com/office/powerpoint/2010/main" val="772953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89C13E0-A0AB-4979-A673-61A952E68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72915"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E0512-2C19-4158-98A7-0C4B5BA272F9}"/>
              </a:ext>
            </a:extLst>
          </p:cNvPr>
          <p:cNvSpPr>
            <a:spLocks noGrp="1"/>
          </p:cNvSpPr>
          <p:nvPr>
            <p:ph type="title"/>
          </p:nvPr>
        </p:nvSpPr>
        <p:spPr>
          <a:xfrm>
            <a:off x="804672" y="1290025"/>
            <a:ext cx="4475892" cy="1188720"/>
          </a:xfrm>
          <a:prstGeom prst="ellipse">
            <a:avLst/>
          </a:prstGeom>
          <a:solidFill>
            <a:srgbClr val="FFFFFF"/>
          </a:solidFill>
          <a:ln>
            <a:solidFill>
              <a:srgbClr val="404040"/>
            </a:solidFill>
          </a:ln>
        </p:spPr>
        <p:txBody>
          <a:bodyPr>
            <a:normAutofit/>
          </a:bodyPr>
          <a:lstStyle/>
          <a:p>
            <a:r>
              <a:rPr lang="en-US" sz="1300">
                <a:solidFill>
                  <a:srgbClr val="262626"/>
                </a:solidFill>
              </a:rPr>
              <a:t>Ordinary least squares regression model</a:t>
            </a:r>
          </a:p>
        </p:txBody>
      </p:sp>
      <p:sp>
        <p:nvSpPr>
          <p:cNvPr id="3" name="Content Placeholder 2">
            <a:extLst>
              <a:ext uri="{FF2B5EF4-FFF2-40B4-BE49-F238E27FC236}">
                <a16:creationId xmlns:a16="http://schemas.microsoft.com/office/drawing/2014/main" id="{4EB20745-FA5A-49FD-97F1-CD0846655426}"/>
              </a:ext>
            </a:extLst>
          </p:cNvPr>
          <p:cNvSpPr>
            <a:spLocks noGrp="1"/>
          </p:cNvSpPr>
          <p:nvPr>
            <p:ph idx="1"/>
          </p:nvPr>
        </p:nvSpPr>
        <p:spPr>
          <a:xfrm>
            <a:off x="804672" y="2858703"/>
            <a:ext cx="4475892" cy="3042547"/>
          </a:xfrm>
        </p:spPr>
        <p:txBody>
          <a:bodyPr>
            <a:normAutofit/>
          </a:bodyPr>
          <a:lstStyle/>
          <a:p>
            <a:r>
              <a:rPr lang="en-US" dirty="0" err="1">
                <a:solidFill>
                  <a:srgbClr val="FFFFFF"/>
                </a:solidFill>
              </a:rPr>
              <a:t>Population_crimes</a:t>
            </a:r>
            <a:r>
              <a:rPr lang="en-US" dirty="0">
                <a:solidFill>
                  <a:srgbClr val="FFFFFF"/>
                </a:solidFill>
              </a:rPr>
              <a:t> ~ </a:t>
            </a:r>
            <a:r>
              <a:rPr lang="en-US" dirty="0" err="1">
                <a:solidFill>
                  <a:srgbClr val="FFFFFF"/>
                </a:solidFill>
              </a:rPr>
              <a:t>total_liquor</a:t>
            </a:r>
            <a:r>
              <a:rPr lang="en-US" dirty="0">
                <a:solidFill>
                  <a:srgbClr val="FFFFFF"/>
                </a:solidFill>
              </a:rPr>
              <a:t> + </a:t>
            </a:r>
            <a:r>
              <a:rPr lang="en-US" dirty="0" err="1">
                <a:solidFill>
                  <a:srgbClr val="FFFFFF"/>
                </a:solidFill>
              </a:rPr>
              <a:t>total_bus</a:t>
            </a:r>
            <a:r>
              <a:rPr lang="en-US" dirty="0">
                <a:solidFill>
                  <a:srgbClr val="FFFFFF"/>
                </a:solidFill>
              </a:rPr>
              <a:t> + </a:t>
            </a:r>
            <a:r>
              <a:rPr lang="en-US" dirty="0" err="1">
                <a:solidFill>
                  <a:srgbClr val="FFFFFF"/>
                </a:solidFill>
              </a:rPr>
              <a:t>total_atms</a:t>
            </a:r>
            <a:endParaRPr lang="en-US" dirty="0">
              <a:solidFill>
                <a:srgbClr val="FFFFFF"/>
              </a:solidFill>
            </a:endParaRPr>
          </a:p>
          <a:p>
            <a:r>
              <a:rPr lang="en-US" dirty="0">
                <a:solidFill>
                  <a:srgbClr val="FFFFFF"/>
                </a:solidFill>
              </a:rPr>
              <a:t>I started getting warnings/errors with the atm data that including it into the model would result in strong multicollinearity problems, so I withdrew it</a:t>
            </a:r>
          </a:p>
          <a:p>
            <a:r>
              <a:rPr lang="en-US" dirty="0">
                <a:solidFill>
                  <a:srgbClr val="FFFFFF"/>
                </a:solidFill>
              </a:rPr>
              <a:t>Low R-squared values</a:t>
            </a:r>
          </a:p>
          <a:p>
            <a:r>
              <a:rPr lang="en-US" dirty="0">
                <a:solidFill>
                  <a:srgbClr val="FFFFFF"/>
                </a:solidFill>
              </a:rPr>
              <a:t>High skew</a:t>
            </a:r>
          </a:p>
        </p:txBody>
      </p:sp>
      <p:sp>
        <p:nvSpPr>
          <p:cNvPr id="19" name="Rectangle 18">
            <a:extLst>
              <a:ext uri="{FF2B5EF4-FFF2-40B4-BE49-F238E27FC236}">
                <a16:creationId xmlns:a16="http://schemas.microsoft.com/office/drawing/2014/main" id="{00169BEC-1553-45B5-AD39-2DB483F1B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032" y="640080"/>
            <a:ext cx="4818888"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BCFBB66E-6A34-42D5-B208-87DFFC550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7586" y="806357"/>
            <a:ext cx="4511266"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able&#10;&#10;Description automatically generated">
            <a:extLst>
              <a:ext uri="{FF2B5EF4-FFF2-40B4-BE49-F238E27FC236}">
                <a16:creationId xmlns:a16="http://schemas.microsoft.com/office/drawing/2014/main" id="{C463ABA1-C6B5-43E6-8319-2D26C2335967}"/>
              </a:ext>
            </a:extLst>
          </p:cNvPr>
          <p:cNvPicPr>
            <a:picLocks noChangeAspect="1"/>
          </p:cNvPicPr>
          <p:nvPr/>
        </p:nvPicPr>
        <p:blipFill>
          <a:blip r:embed="rId2"/>
          <a:stretch>
            <a:fillRect/>
          </a:stretch>
        </p:blipFill>
        <p:spPr>
          <a:xfrm>
            <a:off x="7183871" y="970949"/>
            <a:ext cx="3921210" cy="4599432"/>
          </a:xfrm>
          <a:prstGeom prst="rect">
            <a:avLst/>
          </a:prstGeom>
        </p:spPr>
      </p:pic>
    </p:spTree>
    <p:extLst>
      <p:ext uri="{BB962C8B-B14F-4D97-AF65-F5344CB8AC3E}">
        <p14:creationId xmlns:p14="http://schemas.microsoft.com/office/powerpoint/2010/main" val="3635680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E0512-2C19-4158-98A7-0C4B5BA272F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Gwr &amp; mgwr</a:t>
            </a:r>
          </a:p>
        </p:txBody>
      </p:sp>
      <p:sp>
        <p:nvSpPr>
          <p:cNvPr id="3" name="Content Placeholder 2">
            <a:extLst>
              <a:ext uri="{FF2B5EF4-FFF2-40B4-BE49-F238E27FC236}">
                <a16:creationId xmlns:a16="http://schemas.microsoft.com/office/drawing/2014/main" id="{4EB20745-FA5A-49FD-97F1-CD0846655426}"/>
              </a:ext>
            </a:extLst>
          </p:cNvPr>
          <p:cNvSpPr>
            <a:spLocks noGrp="1"/>
          </p:cNvSpPr>
          <p:nvPr>
            <p:ph idx="1"/>
          </p:nvPr>
        </p:nvSpPr>
        <p:spPr>
          <a:xfrm>
            <a:off x="5591695" y="1402080"/>
            <a:ext cx="5320696" cy="4053840"/>
          </a:xfrm>
        </p:spPr>
        <p:txBody>
          <a:bodyPr anchor="ctr">
            <a:normAutofit/>
          </a:bodyPr>
          <a:lstStyle/>
          <a:p>
            <a:r>
              <a:rPr lang="en-US" dirty="0"/>
              <a:t>Issue: there are only so many census tracts in Washington DC (less than 400), so there may be a bit of a collinearity problem (GWR and MGWR are best performed on larger datasets)</a:t>
            </a:r>
          </a:p>
        </p:txBody>
      </p:sp>
    </p:spTree>
    <p:extLst>
      <p:ext uri="{BB962C8B-B14F-4D97-AF65-F5344CB8AC3E}">
        <p14:creationId xmlns:p14="http://schemas.microsoft.com/office/powerpoint/2010/main" val="3613493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FB5147-CDFA-46AD-8BC4-84219B175F08}"/>
              </a:ext>
            </a:extLst>
          </p:cNvPr>
          <p:cNvSpPr>
            <a:spLocks noGrp="1"/>
          </p:cNvSpPr>
          <p:nvPr>
            <p:ph type="title"/>
          </p:nvPr>
        </p:nvSpPr>
        <p:spPr>
          <a:xfrm>
            <a:off x="433634" y="2311644"/>
            <a:ext cx="1970202" cy="2234712"/>
          </a:xfrm>
        </p:spPr>
        <p:txBody>
          <a:bodyPr vert="horz" lIns="182880" tIns="182880" rIns="182880" bIns="182880" rtlCol="0" anchor="ctr" anchorCtr="1">
            <a:normAutofit/>
          </a:bodyPr>
          <a:lstStyle/>
          <a:p>
            <a:r>
              <a:rPr lang="en-US" sz="1700" dirty="0"/>
              <a:t>GWR/</a:t>
            </a:r>
            <a:r>
              <a:rPr lang="en-US" sz="1700" dirty="0" err="1"/>
              <a:t>MGWr</a:t>
            </a:r>
            <a:br>
              <a:rPr lang="en-US" sz="1700" dirty="0"/>
            </a:br>
            <a:r>
              <a:rPr lang="en-US" sz="1700" dirty="0"/>
              <a:t>2017</a:t>
            </a:r>
          </a:p>
        </p:txBody>
      </p:sp>
      <p:pic>
        <p:nvPicPr>
          <p:cNvPr id="3" name="Picture 2">
            <a:extLst>
              <a:ext uri="{FF2B5EF4-FFF2-40B4-BE49-F238E27FC236}">
                <a16:creationId xmlns:a16="http://schemas.microsoft.com/office/drawing/2014/main" id="{B6879F4C-CF88-40ED-B767-3FCDCB1BCD9D}"/>
              </a:ext>
            </a:extLst>
          </p:cNvPr>
          <p:cNvPicPr>
            <a:picLocks noChangeAspect="1"/>
          </p:cNvPicPr>
          <p:nvPr/>
        </p:nvPicPr>
        <p:blipFill>
          <a:blip r:embed="rId2"/>
          <a:stretch>
            <a:fillRect/>
          </a:stretch>
        </p:blipFill>
        <p:spPr>
          <a:xfrm>
            <a:off x="3728062" y="0"/>
            <a:ext cx="7865573" cy="6858000"/>
          </a:xfrm>
          <a:prstGeom prst="rect">
            <a:avLst/>
          </a:prstGeom>
        </p:spPr>
      </p:pic>
    </p:spTree>
    <p:extLst>
      <p:ext uri="{BB962C8B-B14F-4D97-AF65-F5344CB8AC3E}">
        <p14:creationId xmlns:p14="http://schemas.microsoft.com/office/powerpoint/2010/main" val="2819433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FB5147-CDFA-46AD-8BC4-84219B175F08}"/>
              </a:ext>
            </a:extLst>
          </p:cNvPr>
          <p:cNvSpPr>
            <a:spLocks noGrp="1"/>
          </p:cNvSpPr>
          <p:nvPr>
            <p:ph type="title"/>
          </p:nvPr>
        </p:nvSpPr>
        <p:spPr>
          <a:xfrm>
            <a:off x="433634" y="2311644"/>
            <a:ext cx="1970202" cy="2234712"/>
          </a:xfrm>
        </p:spPr>
        <p:txBody>
          <a:bodyPr vert="horz" lIns="182880" tIns="182880" rIns="182880" bIns="182880" rtlCol="0" anchor="ctr" anchorCtr="1">
            <a:normAutofit/>
          </a:bodyPr>
          <a:lstStyle/>
          <a:p>
            <a:r>
              <a:rPr lang="en-US" sz="1700"/>
              <a:t>GWR/MGWr</a:t>
            </a:r>
            <a:br>
              <a:rPr lang="en-US" sz="1700"/>
            </a:br>
            <a:r>
              <a:rPr lang="en-US" sz="1700"/>
              <a:t>2018</a:t>
            </a:r>
            <a:endParaRPr lang="en-US" sz="1700" dirty="0"/>
          </a:p>
        </p:txBody>
      </p:sp>
      <p:pic>
        <p:nvPicPr>
          <p:cNvPr id="3" name="Picture 2">
            <a:extLst>
              <a:ext uri="{FF2B5EF4-FFF2-40B4-BE49-F238E27FC236}">
                <a16:creationId xmlns:a16="http://schemas.microsoft.com/office/drawing/2014/main" id="{5F34A342-4D9E-40A1-878F-2C440C42ED44}"/>
              </a:ext>
            </a:extLst>
          </p:cNvPr>
          <p:cNvPicPr>
            <a:picLocks noChangeAspect="1"/>
          </p:cNvPicPr>
          <p:nvPr/>
        </p:nvPicPr>
        <p:blipFill>
          <a:blip r:embed="rId2"/>
          <a:stretch>
            <a:fillRect/>
          </a:stretch>
        </p:blipFill>
        <p:spPr>
          <a:xfrm>
            <a:off x="3428770" y="0"/>
            <a:ext cx="7672308" cy="6858000"/>
          </a:xfrm>
          <a:prstGeom prst="rect">
            <a:avLst/>
          </a:prstGeom>
        </p:spPr>
      </p:pic>
    </p:spTree>
    <p:extLst>
      <p:ext uri="{BB962C8B-B14F-4D97-AF65-F5344CB8AC3E}">
        <p14:creationId xmlns:p14="http://schemas.microsoft.com/office/powerpoint/2010/main" val="769831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FB5147-CDFA-46AD-8BC4-84219B175F08}"/>
              </a:ext>
            </a:extLst>
          </p:cNvPr>
          <p:cNvSpPr>
            <a:spLocks noGrp="1"/>
          </p:cNvSpPr>
          <p:nvPr>
            <p:ph type="title"/>
          </p:nvPr>
        </p:nvSpPr>
        <p:spPr>
          <a:xfrm>
            <a:off x="433634" y="2311644"/>
            <a:ext cx="1970202" cy="2234712"/>
          </a:xfrm>
        </p:spPr>
        <p:txBody>
          <a:bodyPr vert="horz" lIns="182880" tIns="182880" rIns="182880" bIns="182880" rtlCol="0" anchor="ctr" anchorCtr="1">
            <a:normAutofit/>
          </a:bodyPr>
          <a:lstStyle/>
          <a:p>
            <a:r>
              <a:rPr lang="en-US" sz="1700" dirty="0"/>
              <a:t>GWR/</a:t>
            </a:r>
            <a:r>
              <a:rPr lang="en-US" sz="1700" dirty="0" err="1"/>
              <a:t>MGWr</a:t>
            </a:r>
            <a:br>
              <a:rPr lang="en-US" sz="1700" dirty="0"/>
            </a:br>
            <a:r>
              <a:rPr lang="en-US" sz="1700" dirty="0"/>
              <a:t>2018 cont.</a:t>
            </a:r>
          </a:p>
        </p:txBody>
      </p:sp>
      <p:pic>
        <p:nvPicPr>
          <p:cNvPr id="4" name="Picture 3">
            <a:extLst>
              <a:ext uri="{FF2B5EF4-FFF2-40B4-BE49-F238E27FC236}">
                <a16:creationId xmlns:a16="http://schemas.microsoft.com/office/drawing/2014/main" id="{E68FAD1B-667A-4949-9094-23B02F92FA05}"/>
              </a:ext>
            </a:extLst>
          </p:cNvPr>
          <p:cNvPicPr>
            <a:picLocks noChangeAspect="1"/>
          </p:cNvPicPr>
          <p:nvPr/>
        </p:nvPicPr>
        <p:blipFill>
          <a:blip r:embed="rId2"/>
          <a:stretch>
            <a:fillRect/>
          </a:stretch>
        </p:blipFill>
        <p:spPr>
          <a:xfrm>
            <a:off x="2858102" y="0"/>
            <a:ext cx="7889813" cy="6858000"/>
          </a:xfrm>
          <a:prstGeom prst="rect">
            <a:avLst/>
          </a:prstGeom>
        </p:spPr>
      </p:pic>
    </p:spTree>
    <p:extLst>
      <p:ext uri="{BB962C8B-B14F-4D97-AF65-F5344CB8AC3E}">
        <p14:creationId xmlns:p14="http://schemas.microsoft.com/office/powerpoint/2010/main" val="1994605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3DD9CE-E5FC-42CB-921C-306B0D2830BE}"/>
              </a:ext>
            </a:extLst>
          </p:cNvPr>
          <p:cNvSpPr>
            <a:spLocks noGrp="1"/>
          </p:cNvSpPr>
          <p:nvPr>
            <p:ph type="title"/>
          </p:nvPr>
        </p:nvSpPr>
        <p:spPr>
          <a:xfrm>
            <a:off x="2231136" y="467418"/>
            <a:ext cx="7729728" cy="1188720"/>
          </a:xfrm>
        </p:spPr>
        <p:txBody>
          <a:bodyPr>
            <a:normAutofit/>
          </a:bodyPr>
          <a:lstStyle/>
          <a:p>
            <a:r>
              <a:rPr lang="en-US" dirty="0"/>
              <a:t>Difficulties/concerns</a:t>
            </a:r>
          </a:p>
        </p:txBody>
      </p:sp>
      <p:sp>
        <p:nvSpPr>
          <p:cNvPr id="3" name="Content Placeholder 2">
            <a:extLst>
              <a:ext uri="{FF2B5EF4-FFF2-40B4-BE49-F238E27FC236}">
                <a16:creationId xmlns:a16="http://schemas.microsoft.com/office/drawing/2014/main" id="{2F9D723A-B28A-48F4-A4A6-71BC0B455194}"/>
              </a:ext>
            </a:extLst>
          </p:cNvPr>
          <p:cNvSpPr>
            <a:spLocks noGrp="1"/>
          </p:cNvSpPr>
          <p:nvPr>
            <p:ph idx="1"/>
          </p:nvPr>
        </p:nvSpPr>
        <p:spPr>
          <a:xfrm>
            <a:off x="1706062" y="2291262"/>
            <a:ext cx="8779512" cy="2879256"/>
          </a:xfrm>
        </p:spPr>
        <p:txBody>
          <a:bodyPr>
            <a:normAutofit/>
          </a:bodyPr>
          <a:lstStyle/>
          <a:p>
            <a:pPr>
              <a:lnSpc>
                <a:spcPct val="90000"/>
              </a:lnSpc>
            </a:pPr>
            <a:r>
              <a:rPr lang="en-US" sz="1700" dirty="0">
                <a:solidFill>
                  <a:srgbClr val="404040"/>
                </a:solidFill>
              </a:rPr>
              <a:t>Need to more fully interpret some of the other findings in the GWR/MGWR plots. Some of the statistics are still over my head from lack of experience</a:t>
            </a:r>
          </a:p>
          <a:p>
            <a:pPr>
              <a:lnSpc>
                <a:spcPct val="90000"/>
              </a:lnSpc>
            </a:pPr>
            <a:r>
              <a:rPr lang="en-US" sz="1700" dirty="0">
                <a:solidFill>
                  <a:srgbClr val="404040"/>
                </a:solidFill>
              </a:rPr>
              <a:t>Wasn’t able to come up with a good way to factor in metro stops into the spatial models, which is why I ended up taking in the metro bus stops as a substitute (more points, more distribution, etc.)</a:t>
            </a:r>
          </a:p>
          <a:p>
            <a:pPr>
              <a:lnSpc>
                <a:spcPct val="90000"/>
              </a:lnSpc>
            </a:pPr>
            <a:r>
              <a:rPr lang="en-US" sz="1700" dirty="0">
                <a:solidFill>
                  <a:srgbClr val="404040"/>
                </a:solidFill>
              </a:rPr>
              <a:t>Shout outs to Matthew </a:t>
            </a:r>
            <a:r>
              <a:rPr lang="en-US" sz="1700" dirty="0" err="1">
                <a:solidFill>
                  <a:srgbClr val="404040"/>
                </a:solidFill>
              </a:rPr>
              <a:t>Tralka</a:t>
            </a:r>
            <a:r>
              <a:rPr lang="en-US" sz="1700" dirty="0">
                <a:solidFill>
                  <a:srgbClr val="404040"/>
                </a:solidFill>
              </a:rPr>
              <a:t> for bringing to my attention an interesting new way that crime is being uniformly reported on for trend analysis – NIBRS</a:t>
            </a:r>
          </a:p>
          <a:p>
            <a:pPr lvl="1">
              <a:lnSpc>
                <a:spcPct val="90000"/>
              </a:lnSpc>
            </a:pPr>
            <a:r>
              <a:rPr lang="en-US" sz="1300" dirty="0">
                <a:solidFill>
                  <a:srgbClr val="404040"/>
                </a:solidFill>
                <a:hlinkClick r:id="rId2"/>
              </a:rPr>
              <a:t>https://www.fbi.gov/services/cjis/ucr/nibrs</a:t>
            </a:r>
            <a:endParaRPr lang="en-US" sz="1300" dirty="0">
              <a:solidFill>
                <a:srgbClr val="404040"/>
              </a:solidFill>
            </a:endParaRPr>
          </a:p>
          <a:p>
            <a:pPr>
              <a:lnSpc>
                <a:spcPct val="90000"/>
              </a:lnSpc>
            </a:pPr>
            <a:r>
              <a:rPr lang="en-US" sz="1700" dirty="0">
                <a:solidFill>
                  <a:srgbClr val="404040"/>
                </a:solidFill>
              </a:rPr>
              <a:t>It would be interesting in the next iteration to split up the data into types of crimes</a:t>
            </a:r>
          </a:p>
        </p:txBody>
      </p:sp>
    </p:spTree>
    <p:extLst>
      <p:ext uri="{BB962C8B-B14F-4D97-AF65-F5344CB8AC3E}">
        <p14:creationId xmlns:p14="http://schemas.microsoft.com/office/powerpoint/2010/main" val="2501521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3ECA13-0683-4504-832C-16B913962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5963"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33435F-732E-4519-9C96-5C9A569E0EA0}"/>
              </a:ext>
            </a:extLst>
          </p:cNvPr>
          <p:cNvSpPr>
            <a:spLocks noGrp="1"/>
          </p:cNvSpPr>
          <p:nvPr>
            <p:ph type="title"/>
          </p:nvPr>
        </p:nvSpPr>
        <p:spPr>
          <a:xfrm>
            <a:off x="637889" y="2893470"/>
            <a:ext cx="2787467" cy="1071062"/>
          </a:xfrm>
        </p:spPr>
        <p:txBody>
          <a:bodyPr>
            <a:normAutofit/>
          </a:bodyPr>
          <a:lstStyle/>
          <a:p>
            <a:r>
              <a:rPr lang="en-US" sz="2400" dirty="0"/>
              <a:t>Questions?</a:t>
            </a:r>
            <a:br>
              <a:rPr lang="en-US" sz="2400" dirty="0"/>
            </a:br>
            <a:r>
              <a:rPr lang="en-US" sz="2400" dirty="0"/>
              <a:t>Suggestions?</a:t>
            </a:r>
          </a:p>
        </p:txBody>
      </p:sp>
      <p:sp>
        <p:nvSpPr>
          <p:cNvPr id="11" name="Rectangle 10">
            <a:extLst>
              <a:ext uri="{FF2B5EF4-FFF2-40B4-BE49-F238E27FC236}">
                <a16:creationId xmlns:a16="http://schemas.microsoft.com/office/drawing/2014/main" id="{195FD4C0-669C-4A18-B817-741931AA0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4519" y="640080"/>
            <a:ext cx="6847401"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50DFD65-2024-431D-B707-1F4B55972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0008" y="806357"/>
            <a:ext cx="6508844"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Questions">
            <a:extLst>
              <a:ext uri="{FF2B5EF4-FFF2-40B4-BE49-F238E27FC236}">
                <a16:creationId xmlns:a16="http://schemas.microsoft.com/office/drawing/2014/main" id="{470DFD0B-7FBB-49BA-AF13-C54E723B43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53483" y="970949"/>
            <a:ext cx="4599432" cy="4599432"/>
          </a:xfrm>
          <a:prstGeom prst="rect">
            <a:avLst/>
          </a:prstGeom>
        </p:spPr>
      </p:pic>
    </p:spTree>
    <p:extLst>
      <p:ext uri="{BB962C8B-B14F-4D97-AF65-F5344CB8AC3E}">
        <p14:creationId xmlns:p14="http://schemas.microsoft.com/office/powerpoint/2010/main" val="264061516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docProps/app.xml><?xml version="1.0" encoding="utf-8"?>
<Properties xmlns="http://schemas.openxmlformats.org/officeDocument/2006/extended-properties" xmlns:vt="http://schemas.openxmlformats.org/officeDocument/2006/docPropsVTypes">
  <TotalTime>53</TotalTime>
  <Words>437</Words>
  <Application>Microsoft Office PowerPoint</Application>
  <PresentationFormat>Widescreen</PresentationFormat>
  <Paragraphs>36</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Gill Sans MT</vt:lpstr>
      <vt:lpstr>Parcel</vt:lpstr>
      <vt:lpstr>DC Crime analysis</vt:lpstr>
      <vt:lpstr>Overall updates</vt:lpstr>
      <vt:lpstr>Crimes by census tract + transportation</vt:lpstr>
      <vt:lpstr>Crimes by census tract + transportation</vt:lpstr>
      <vt:lpstr>Local hot/cold spots</vt:lpstr>
      <vt:lpstr>Autocorrelation Plots</vt:lpstr>
      <vt:lpstr>Ordinary least squares regression model</vt:lpstr>
      <vt:lpstr>Gwr &amp; mgwr</vt:lpstr>
      <vt:lpstr>GWR/MGWr 2017</vt:lpstr>
      <vt:lpstr>GWR/MGWr 2018</vt:lpstr>
      <vt:lpstr>GWR/MGWr 2018 cont.</vt:lpstr>
      <vt:lpstr>Difficulties/concerns</vt:lpstr>
      <vt:lpstr>Questions? Suggestions?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Crime analysis</dc:title>
  <dc:creator>Brandon Anthony Pennington</dc:creator>
  <cp:lastModifiedBy>Brandon Anthony Pennington</cp:lastModifiedBy>
  <cp:revision>9</cp:revision>
  <dcterms:created xsi:type="dcterms:W3CDTF">2020-12-10T18:25:30Z</dcterms:created>
  <dcterms:modified xsi:type="dcterms:W3CDTF">2020-12-10T19:19:00Z</dcterms:modified>
</cp:coreProperties>
</file>