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5" r:id="rId3"/>
    <p:sldId id="257" r:id="rId4"/>
    <p:sldId id="258" r:id="rId5"/>
    <p:sldId id="266" r:id="rId6"/>
    <p:sldId id="267" r:id="rId7"/>
    <p:sldId id="268" r:id="rId8"/>
    <p:sldId id="269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129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0C0A-5464-4FE4-84EB-FF9C94016DF4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6404-AD6E-4860-8E75-697CA40B95DA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11/23/2020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8D508C-A317-451C-AB61-8A699E35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1406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5EDBD-C074-454D-BA70-29B39EE80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567226"/>
            <a:ext cx="8991600" cy="1723549"/>
          </a:xfrm>
        </p:spPr>
        <p:txBody>
          <a:bodyPr>
            <a:normAutofit/>
          </a:bodyPr>
          <a:lstStyle/>
          <a:p>
            <a:r>
              <a:rPr lang="en-US" sz="4000"/>
              <a:t>Project update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7262A-2342-49E4-A76E-217BB5619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9219" y="5583044"/>
            <a:ext cx="3995955" cy="653164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1400">
                <a:solidFill>
                  <a:srgbClr val="FFFFFF"/>
                </a:solidFill>
              </a:rPr>
              <a:t>Brandon Pennington</a:t>
            </a:r>
          </a:p>
          <a:p>
            <a:pPr algn="r">
              <a:lnSpc>
                <a:spcPct val="90000"/>
              </a:lnSpc>
            </a:pPr>
            <a:r>
              <a:rPr lang="en-US" sz="1400">
                <a:solidFill>
                  <a:srgbClr val="FFFFFF"/>
                </a:solidFill>
              </a:rPr>
              <a:t>GEOG498G - Fall 2020</a:t>
            </a:r>
          </a:p>
        </p:txBody>
      </p:sp>
    </p:spTree>
    <p:extLst>
      <p:ext uri="{BB962C8B-B14F-4D97-AF65-F5344CB8AC3E}">
        <p14:creationId xmlns:p14="http://schemas.microsoft.com/office/powerpoint/2010/main" val="190763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E0512-2C19-4158-98A7-0C4B5BA27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20745-FA5A-49FD-97F1-CD0846655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 dirty="0"/>
              <a:t>Perform exploratory geospatial analysis of the DC area on the distribution of crime</a:t>
            </a:r>
          </a:p>
          <a:p>
            <a:r>
              <a:rPr lang="en-US" dirty="0"/>
              <a:t>Discover how various points of interest that affect the immediate areas likelihood of crime occurrences for better or for worse, and measure how severe it modifies it.</a:t>
            </a:r>
          </a:p>
          <a:p>
            <a:r>
              <a:rPr lang="en-US" dirty="0"/>
              <a:t>Analysis to be done utilizing Moran’s I, Local Moran’s I, GWR/MGWR</a:t>
            </a:r>
          </a:p>
          <a:p>
            <a:r>
              <a:rPr lang="en-US" dirty="0"/>
              <a:t>Visualize the results in a meaningful with preferably browser-based delivery</a:t>
            </a:r>
          </a:p>
        </p:txBody>
      </p:sp>
    </p:spTree>
    <p:extLst>
      <p:ext uri="{BB962C8B-B14F-4D97-AF65-F5344CB8AC3E}">
        <p14:creationId xmlns:p14="http://schemas.microsoft.com/office/powerpoint/2010/main" val="174085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6136F1-0FF5-4677-9FCF-1AE9F1AD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FFFFFF"/>
                </a:solidFill>
              </a:rPr>
              <a:t>Data cleaning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2597D-B6A2-4D78-9471-084BB79E6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 dirty="0"/>
              <a:t>Analysis done with census tracts as spatial unit</a:t>
            </a:r>
          </a:p>
          <a:p>
            <a:r>
              <a:rPr lang="en-US" dirty="0"/>
              <a:t>Plotted per census tract counts/distributions of data</a:t>
            </a:r>
          </a:p>
          <a:p>
            <a:r>
              <a:rPr lang="en-US" dirty="0"/>
              <a:t>For one year (so far) I was able to:</a:t>
            </a:r>
          </a:p>
          <a:p>
            <a:pPr lvl="1"/>
            <a:r>
              <a:rPr lang="en-US" dirty="0"/>
              <a:t>Merged population tract data to crime and number of liquor establishments in each tract</a:t>
            </a:r>
          </a:p>
          <a:p>
            <a:pPr lvl="1"/>
            <a:r>
              <a:rPr lang="en-US" dirty="0"/>
              <a:t>Performed LISA statistical tests (Global and Local Moran’s I)</a:t>
            </a:r>
          </a:p>
          <a:p>
            <a:pPr lvl="1"/>
            <a:r>
              <a:rPr lang="en-US" dirty="0"/>
              <a:t>Performed initial GWR and MGWR analysis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38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23ECA13-0683-4504-832C-16B913962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5963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FB5147-CDFA-46AD-8BC4-84219B175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889" y="2893470"/>
            <a:ext cx="2787467" cy="1071062"/>
          </a:xfrm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1700"/>
              <a:t>Original Matplotlib data plot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5FD4C0-669C-4A18-B817-741931AA0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4519" y="640080"/>
            <a:ext cx="6847401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0DFD65-2024-431D-B707-1F4B5597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80008" y="806357"/>
            <a:ext cx="6508844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Chart, radar chart, surface chart&#10;&#10;Description automatically generated">
            <a:extLst>
              <a:ext uri="{FF2B5EF4-FFF2-40B4-BE49-F238E27FC236}">
                <a16:creationId xmlns:a16="http://schemas.microsoft.com/office/drawing/2014/main" id="{E38065EA-1E91-4E38-9CFA-30E297237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9542" y="0"/>
            <a:ext cx="6269775" cy="679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0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FE368CB-E39D-4075-B228-7E8D17A5A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C0575-7DE3-47B8-BE44-2A1916C8E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>
                <a:solidFill>
                  <a:srgbClr val="262626"/>
                </a:solidFill>
              </a:rPr>
              <a:t>Initial plots</a:t>
            </a:r>
          </a:p>
        </p:txBody>
      </p:sp>
      <p:pic>
        <p:nvPicPr>
          <p:cNvPr id="5" name="Picture 4" descr="Chart, surface chart&#10;&#10;Description automatically generated">
            <a:extLst>
              <a:ext uri="{FF2B5EF4-FFF2-40B4-BE49-F238E27FC236}">
                <a16:creationId xmlns:a16="http://schemas.microsoft.com/office/drawing/2014/main" id="{8AFA797D-790B-4D0B-85D9-CBEE34BDB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61" y="638871"/>
            <a:ext cx="3430863" cy="3199279"/>
          </a:xfrm>
          <a:prstGeom prst="rect">
            <a:avLst/>
          </a:prstGeom>
        </p:spPr>
      </p:pic>
      <p:pic>
        <p:nvPicPr>
          <p:cNvPr id="7" name="Picture 6" descr="Chart, surface chart&#10;&#10;Description automatically generated">
            <a:extLst>
              <a:ext uri="{FF2B5EF4-FFF2-40B4-BE49-F238E27FC236}">
                <a16:creationId xmlns:a16="http://schemas.microsoft.com/office/drawing/2014/main" id="{01A186A0-3CE1-4754-8558-CAD64FC9D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507" y="626882"/>
            <a:ext cx="3429000" cy="3223259"/>
          </a:xfrm>
          <a:prstGeom prst="rect">
            <a:avLst/>
          </a:prstGeom>
        </p:spPr>
      </p:pic>
      <p:pic>
        <p:nvPicPr>
          <p:cNvPr id="9" name="Picture 8" descr="Chart, surface chart&#10;&#10;Description automatically generated">
            <a:extLst>
              <a:ext uri="{FF2B5EF4-FFF2-40B4-BE49-F238E27FC236}">
                <a16:creationId xmlns:a16="http://schemas.microsoft.com/office/drawing/2014/main" id="{29590674-14F8-4FB7-AE57-272585090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090" y="636351"/>
            <a:ext cx="3408850" cy="320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042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6">
            <a:extLst>
              <a:ext uri="{FF2B5EF4-FFF2-40B4-BE49-F238E27FC236}">
                <a16:creationId xmlns:a16="http://schemas.microsoft.com/office/drawing/2014/main" id="{2BF55726-8F4D-499B-B9C5-862F4015A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5476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D5FF2-84B2-4886-AA97-8F715958B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599" y="4928136"/>
            <a:ext cx="7729728" cy="1134402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Local indicators of spatial association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2480CF-2C95-459D-B202-F6A6A1E1D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61820"/>
            <a:ext cx="10271760" cy="295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965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23ECA13-0683-4504-832C-16B913962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5963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D7AC01-41D9-4AED-9141-3FD97F10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889" y="2893470"/>
            <a:ext cx="2787467" cy="1071062"/>
          </a:xfrm>
        </p:spPr>
        <p:txBody>
          <a:bodyPr vert="horz" lIns="182880" tIns="182880" rIns="182880" bIns="182880" rtlCol="0" anchor="ctr" anchorCtr="1">
            <a:normAutofit/>
          </a:bodyPr>
          <a:lstStyle/>
          <a:p>
            <a:r>
              <a:rPr lang="en-US" sz="1700"/>
              <a:t>Regression: crimes to population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5FD4C0-669C-4A18-B817-741931AA0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4519" y="640080"/>
            <a:ext cx="6847401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550DFD65-2024-431D-B707-1F4B5597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80008" y="806357"/>
            <a:ext cx="6508844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E7076BB-2C5A-44B9-88CA-ADAB5D211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-1" b="835"/>
          <a:stretch/>
        </p:blipFill>
        <p:spPr>
          <a:xfrm>
            <a:off x="5625566" y="970949"/>
            <a:ext cx="5055266" cy="459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68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E4D61-06F4-4198-BFCF-3C53C2B7A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017" y="0"/>
            <a:ext cx="8659965" cy="1188720"/>
          </a:xfrm>
        </p:spPr>
        <p:txBody>
          <a:bodyPr/>
          <a:lstStyle/>
          <a:p>
            <a:r>
              <a:rPr lang="en-US" dirty="0"/>
              <a:t>GWR/MGWR initial surface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BF7DB-B0BA-4B03-BB88-11AAB5DBC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CAFBB-D0E1-47FC-B601-F1A354655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03" y="1215566"/>
            <a:ext cx="10853394" cy="503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51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DD9CE-E5FC-42CB-921C-306B0D283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/>
              <a:t>Moving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723A-B28A-48F4-A4A6-71BC0B455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1700" dirty="0">
                <a:solidFill>
                  <a:srgbClr val="404040"/>
                </a:solidFill>
              </a:rPr>
              <a:t>I need to finalize how I’d like to normalize for population given some tracts report obscenely low population (one tract reported 60 people in the tract for 2018)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rgbClr val="404040"/>
                </a:solidFill>
              </a:rPr>
              <a:t>Binarize whether there is a metro stop in each census tract and add that to the model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rgbClr val="404040"/>
                </a:solidFill>
              </a:rPr>
              <a:t>Add ATM’s to the model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rgbClr val="404040"/>
                </a:solidFill>
              </a:rPr>
              <a:t>Work on setting up my interactive Folium map to be able to visualize the results in a meaningful way (being able to flip through timeline layers, </a:t>
            </a:r>
            <a:r>
              <a:rPr lang="en-US" sz="1700" dirty="0" err="1">
                <a:solidFill>
                  <a:srgbClr val="404040"/>
                </a:solidFill>
              </a:rPr>
              <a:t>etc</a:t>
            </a:r>
            <a:r>
              <a:rPr lang="en-US" sz="1700" dirty="0">
                <a:solidFill>
                  <a:srgbClr val="404040"/>
                </a:solidFill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rgbClr val="404040"/>
                </a:solidFill>
              </a:rPr>
              <a:t>Perform the analysis on other years (2020 preliminary data has been released)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rgbClr val="404040"/>
                </a:solidFill>
              </a:rPr>
              <a:t>Revisit explanations of some of the statistical methods used so I can ensure I’m explaining my results accurately</a:t>
            </a:r>
          </a:p>
          <a:p>
            <a:pPr>
              <a:lnSpc>
                <a:spcPct val="90000"/>
              </a:lnSpc>
            </a:pPr>
            <a:r>
              <a:rPr lang="en-US" sz="1700" dirty="0">
                <a:solidFill>
                  <a:srgbClr val="404040"/>
                </a:solidFill>
              </a:rPr>
              <a:t>Bug with the population and liquor license GWR/MGWR analysis</a:t>
            </a:r>
          </a:p>
          <a:p>
            <a:pPr>
              <a:lnSpc>
                <a:spcPct val="90000"/>
              </a:lnSpc>
            </a:pPr>
            <a:endParaRPr lang="en-US" sz="1700" dirty="0">
              <a:solidFill>
                <a:srgbClr val="40404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50B09-1E3D-457B-A716-667C27D8E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788" y="5447974"/>
            <a:ext cx="5725212" cy="139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2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3ECA13-0683-4504-832C-16B913962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5963" cy="68580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3435F-732E-4519-9C96-5C9A569E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889" y="2893470"/>
            <a:ext cx="2787467" cy="1071062"/>
          </a:xfrm>
        </p:spPr>
        <p:txBody>
          <a:bodyPr>
            <a:normAutofit/>
          </a:bodyPr>
          <a:lstStyle/>
          <a:p>
            <a:r>
              <a:rPr lang="en-US" sz="2400"/>
              <a:t>Questions?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5FD4C0-669C-4A18-B817-741931AA0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4519" y="640080"/>
            <a:ext cx="6847401" cy="5261170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0DFD65-2024-431D-B707-1F4B5597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80008" y="806357"/>
            <a:ext cx="6508844" cy="4928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Questions">
            <a:extLst>
              <a:ext uri="{FF2B5EF4-FFF2-40B4-BE49-F238E27FC236}">
                <a16:creationId xmlns:a16="http://schemas.microsoft.com/office/drawing/2014/main" id="{470DFD0B-7FBB-49BA-AF13-C54E723B4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3483" y="970949"/>
            <a:ext cx="4599432" cy="459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1516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291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Parcel</vt:lpstr>
      <vt:lpstr>Project update 2</vt:lpstr>
      <vt:lpstr>objectives</vt:lpstr>
      <vt:lpstr>Data cleaning progress</vt:lpstr>
      <vt:lpstr>Original Matplotlib data plot</vt:lpstr>
      <vt:lpstr>Initial plots</vt:lpstr>
      <vt:lpstr>Local indicators of spatial association</vt:lpstr>
      <vt:lpstr>Regression: crimes to population</vt:lpstr>
      <vt:lpstr>GWR/MGWR initial surface comparison</vt:lpstr>
      <vt:lpstr>Moving Forward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update 2</dc:title>
  <dc:creator>Brandon Anthony Pennington</dc:creator>
  <cp:lastModifiedBy>Brandon Anthony Pennington</cp:lastModifiedBy>
  <cp:revision>9</cp:revision>
  <dcterms:created xsi:type="dcterms:W3CDTF">2020-11-23T17:45:33Z</dcterms:created>
  <dcterms:modified xsi:type="dcterms:W3CDTF">2020-11-23T18:08:04Z</dcterms:modified>
</cp:coreProperties>
</file>